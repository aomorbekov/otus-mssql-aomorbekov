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86B4D-DD40-4B5B-9138-BA447F10B3AD}" v="1" dt="2026-05-19T12:45:54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14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094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308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438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84744" y="683066"/>
            <a:ext cx="75843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База данных комплексного мониторинга серверов и жизненного цикла инцидентов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MS SQL Developer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opAccent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1" name="Title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" sz="28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проекта</a:t>
            </a:r>
            <a:endParaRPr lang="ru" sz="2800"/>
          </a:p>
        </p:txBody>
      </p:sp>
      <p:sp>
        <p:nvSpPr>
          <p:cNvPr id="102" name="ThemeBg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3" name="ThemeText"/>
          <p:cNvSpPr/>
          <p:nvPr/>
        </p:nvSpPr>
        <p:spPr>
          <a:xfrm>
            <a:off x="91440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ru" sz="1200" b="1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Тема: </a:t>
            </a:r>
            <a:r>
              <a:rPr lang="ru-RU" sz="120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База данных комплексного мониторинга серверов и жизненного цикла инцидентов</a:t>
            </a:r>
            <a:endParaRPr lang="ru-RU" sz="1200"/>
          </a:p>
        </p:txBody>
      </p:sp>
      <p:sp>
        <p:nvSpPr>
          <p:cNvPr id="104" name="AuthorCardBg"/>
          <p:cNvSpPr/>
          <p:nvPr/>
        </p:nvSpPr>
        <p:spPr>
          <a:xfrm>
            <a:off x="731520" y="173736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5" name="AuthorHeaderBg"/>
          <p:cNvSpPr/>
          <p:nvPr/>
        </p:nvSpPr>
        <p:spPr>
          <a:xfrm>
            <a:off x="731520" y="1737360"/>
            <a:ext cx="3749040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6" name="AuthorName"/>
          <p:cNvSpPr/>
          <p:nvPr/>
        </p:nvSpPr>
        <p:spPr>
          <a:xfrm>
            <a:off x="914400" y="1783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Аскар Оморбеков</a:t>
            </a:r>
            <a:endParaRPr lang="ru" sz="1800"/>
          </a:p>
        </p:txBody>
      </p:sp>
      <p:sp>
        <p:nvSpPr>
          <p:cNvPr id="107" name="AuthorDetails"/>
          <p:cNvSpPr/>
          <p:nvPr/>
        </p:nvSpPr>
        <p:spPr>
          <a:xfrm>
            <a:off x="914400" y="25146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" sz="11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проживания:</a:t>
            </a:r>
            <a:r>
              <a:rPr lang="ru-RU" sz="110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Казахстан, г. Алматы</a:t>
            </a:r>
            <a:endParaRPr lang="ru-RU" sz="1100"/>
          </a:p>
          <a:p>
            <a:pPr marL="0" indent="0" algn="l">
              <a:lnSpc>
                <a:spcPct val="150000"/>
              </a:lnSpc>
              <a:buNone/>
            </a:pPr>
            <a:r>
              <a:rPr lang="ru" sz="11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Профессия:</a:t>
            </a:r>
            <a:r>
              <a:rPr lang="ru-RU" sz="110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DBA (начинающий)</a:t>
            </a:r>
            <a:endParaRPr lang="ru-RU" sz="1100"/>
          </a:p>
          <a:p>
            <a:pPr marL="0" indent="0" algn="l">
              <a:lnSpc>
                <a:spcPct val="150000"/>
              </a:lnSpc>
              <a:buNone/>
            </a:pPr>
            <a:r>
              <a:rPr lang="ru" sz="11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Опыт:</a:t>
            </a:r>
            <a:r>
              <a:rPr lang="ru-RU" sz="110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Ранее работал системным администратором</a:t>
            </a:r>
            <a:endParaRPr lang="ru-RU" sz="1100"/>
          </a:p>
        </p:txBody>
      </p:sp>
      <p:sp>
        <p:nvSpPr>
          <p:cNvPr id="108" name="BottomAccent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проекта и бизнес-идея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68580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Цель проекта: </a:t>
            </a: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Разработка транзакционной базы данных (OLTP) для ИТ-отдела, которая объединяет инвентаризацию ИТ-инфраструктуры (CMDB) и систему реагирования на инциденты (ITSM).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Проблемы, которые решает БД: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688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Разрозненность данных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Серверы, службы и ОС теперь хранятся в единой структуре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228600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4688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исторического контекста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Потоковые метрики (CPU, RAM, диск, пинг) для анализа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43600" y="228600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4688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контроля над авариями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08076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Контроль жизненного цикла инцидентов от «Новый» до «Закрыт» с историей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5"/>
          <p:cNvSpPr/>
          <p:nvPr/>
        </p:nvSpPr>
        <p:spPr>
          <a:xfrm>
            <a:off x="914400" y="4160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Архитектурный подход: </a:t>
            </a: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База данных спроектирована в 3-й нормальной форме (3НФ), что защищает данные от аномалий ввода и дублирования.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Выполнение требований к проекту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2496312" cy="7772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058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13716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0F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Расчёт на высокую нагрузку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2496312" cy="320040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868680" y="1920240"/>
            <a:ext cx="22219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ServerMetrics обрабатывает постоянный поток данных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Табличное секционирование (Partitioning) по месяцам для оптимизации I/O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Очистка метрик через SWITCH PARTITION — без блокировок и долгих транзакций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Покрывающие некластерные индексы (INCLUDE) минимизируют I/O при расчёте дашбордов и чтении истории аварий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IX_Servers_OSID — быстрое связывание серверов с их ОС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64992" y="960120"/>
            <a:ext cx="2496312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097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13632" y="10058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Функциональность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913632" y="13716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0F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Бизнес-логика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364992" y="1737360"/>
            <a:ext cx="2496312" cy="32004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1"/>
          <p:cNvSpPr/>
          <p:nvPr/>
        </p:nvSpPr>
        <p:spPr>
          <a:xfrm>
            <a:off x="3502152" y="1920240"/>
            <a:ext cx="22219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Полный цикл обработки аварий через хранимые процедуры (sp_UpdateIncidentStatus)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Аналитические представления (vw_ActiveIncidents, vw_ServerHealth) для мониторинга и расчёта downtime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98464" y="960120"/>
            <a:ext cx="2496312" cy="7772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097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7104" y="10058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47104" y="13716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0F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Защита данных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998464" y="1737360"/>
            <a:ext cx="2496312" cy="320040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6"/>
          <p:cNvSpPr/>
          <p:nvPr/>
        </p:nvSpPr>
        <p:spPr>
          <a:xfrm>
            <a:off x="6135624" y="1920240"/>
            <a:ext cx="22219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Ролевая модель: роль MonitoringAppRole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INSERT/UPDATE/DELETE закрыт — работа только через процедуры и представления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Триггер trg_IncidentStatusGuard запрещает откат решённых инцидентов в «Новый»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БД (Схема таблиц)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База данных состоит из 12 таблиц, строго структурированных и разделённых на 3 логических блока: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4389120" cy="32918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Вставьте сюда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«Диаграмма таблиц.JPG»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49240" y="1188720"/>
            <a:ext cx="3291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458968" y="1298448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35331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97880" y="1234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1: Справочники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Roles, Statuses, Severities, MetricTypes, OperatingSystems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89788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Гарантируют ссылочную целостность и защиту от аномалий ввода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49240" y="2258568"/>
            <a:ext cx="3291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5458968" y="236829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242316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97880" y="2304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2: Инвентаризация (CMDB)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897880" y="25786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Users, Servers, Services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897880" y="2852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Реестр учётных записей, серверов и запущенных на них служб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349240" y="3328416"/>
            <a:ext cx="3291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6"/>
          <p:cNvSpPr/>
          <p:nvPr/>
        </p:nvSpPr>
        <p:spPr>
          <a:xfrm>
            <a:off x="5458968" y="3438144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349300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897880" y="33741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3: Транзакционное ядро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897880" y="36484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ServerMetrics, Incidents, IncidentComments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5897880" y="39227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Журналирование потоковых метрик и регистрация ИТ-инцидентов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Все таблицы связаны через Foreign Keys  •  </a:t>
            </a: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Соблюдена 3-я нормальная форма (3НФ)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0FBF60CF-650E-F873-70BE-3D2C583AC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1200477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для высоких нагрузок: Секционирование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Основная нагрузка ложится на таблицу </a:t>
            </a: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ServerMetrics</a:t>
            </a: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куда непрерывно записываются потоковые данные от серверов. Для оптимизации I/O применено </a:t>
            </a:r>
            <a:r>
              <a:rPr lang="en-US" sz="110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табличное секционирование по месяцам.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реализовано: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2468880" cy="1828800"/>
          </a:xfrm>
          <a:prstGeom prst="rect">
            <a:avLst/>
          </a:prstGeom>
          <a:solidFill>
            <a:srgbClr val="F8FAFC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и схема секционирования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Создана функция pf_Metrics_Monthly для распределения данных по диапазонам дат и схема ps_Metrics_Monthly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18688" y="274320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2057400"/>
            <a:ext cx="2468880" cy="1828800"/>
          </a:xfrm>
          <a:prstGeom prst="rect">
            <a:avLst/>
          </a:prstGeom>
          <a:solidFill>
            <a:srgbClr val="F8FAFC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3474720" y="21945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34747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Архивная таблица-клон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Создана пустая таблица ServerMetrics_Archive, привязанная к той же схеме секционирования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24728" y="274320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057400"/>
            <a:ext cx="2468880" cy="1828800"/>
          </a:xfrm>
          <a:prstGeom prst="rect">
            <a:avLst/>
          </a:prstGeom>
          <a:solidFill>
            <a:srgbClr val="F8FAFC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080760" y="219456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0807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Мгновенная очистка данных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Процедура sp_PurgeOldMetrics использует SWITCH PARTITION — метаданная операция за миллисекунды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914400" y="4114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Результат: 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Перенос целой секции устаревших метрик за миллисекунды, без долгих блокировок и тяжёлых записей в лог транзакций. После переноса архив безопасно очищается (TRUNCATE).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Представления и функции (Аналитика)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7680960" cy="50292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Для удобства построения отчётов и дашбордов мониторинга сложная SQL-логика инкапсулирована внутри базы данных.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200400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1848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54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Пользовательские функции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8288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0F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Functions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2103120"/>
            <a:ext cx="32004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91440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fn_GetIncidentDuration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2606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Скалярная функция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2926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Автоматически высчитывает время простоя (downtime) в минутах от момента создания инцидента до его разрешения — или до текущего времени, если инцидент ещё активен.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60520" y="1508760"/>
            <a:ext cx="4434840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1848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Представления (Views)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709160" y="1828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0F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Аналитические витрины данных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160520" y="2103120"/>
            <a:ext cx="44348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Text 15"/>
          <p:cNvSpPr/>
          <p:nvPr/>
        </p:nvSpPr>
        <p:spPr>
          <a:xfrm>
            <a:off x="4343400" y="21945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vw_ActiveIncidents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343400" y="25146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Сводный список всех нерешённых инцидентов. Объединяет данные из 5 таблиц и использует fn_GetIncidentDuration для расчёта времени простоя на лету.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160520" y="3474720"/>
            <a:ext cx="44348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18"/>
          <p:cNvSpPr/>
          <p:nvPr/>
        </p:nvSpPr>
        <p:spPr>
          <a:xfrm>
            <a:off x="4343400" y="3566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vw_ServerHealth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343400" y="38862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Агрегированная витрина «здоровья» серверов. Группирует данные по серверам, среде (Prod, Dev) и ОС, подсчитывая количество новых и активных инцидентов по каждому узлу.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Хранимые процедуры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7680960" cy="41148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14400" y="731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Хранимые процедуры реализуют основную бизнес-логику, инкапсулируя DML-операции и гарантируя целостность данных.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496312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2496312" cy="31546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sp_AddServerMetric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Стандартизированная и быстрая вставка поступающих потоковых метрик с серверов.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1325880"/>
            <a:ext cx="2496312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502152" y="137160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инцидентами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64992" y="1828800"/>
            <a:ext cx="2496312" cy="31546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502152" y="192024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sp_CreateIncident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02152" y="2167128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Регистрация аварии. Автоматически присваивается статус «Новый».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2152" y="269748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sp_UpdateIncidentStatus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02152" y="294436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Ручная обработка инженером. Смена статуса фиксируется в истории с комментарием.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02152" y="3520440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sp_AutoResolveIncident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02152" y="376732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Автовосстановление. Ищет открытую аварию и переводит в «Закрыт», если метрики в норме.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98464" y="1325880"/>
            <a:ext cx="2496312" cy="5029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135624" y="137160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 БД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98464" y="1828800"/>
            <a:ext cx="2496312" cy="315468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135624" y="196596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sp_PurgeOldMetrics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35624" y="228600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Обслуживающая процедура. SWITCH PARTITION для мгновенного переноса устаревших метрик в архив с последующей очисткой без блокировок.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Гарантия ACID: </a:t>
            </a: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Смена статусов обёрнута в строгие транзакции (BEGIN TRY … BEGIN TRAN), исключая потерю данных при сбоях.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данных: Триггеры и Безопасность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7680960" cy="41148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14400" y="731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Безопасность выстроена с использованием принципа </a:t>
            </a:r>
            <a:r>
              <a:rPr lang="en-US" sz="110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наименьших привилегий.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97764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Ролевая модель (Security)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874520"/>
            <a:ext cx="397764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868680" y="2057400"/>
            <a:ext cx="3703320" cy="45720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1005840" y="20574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Роль: </a:t>
            </a: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MonitoringAppRole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26517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Прямой доступ к таблицам (INSERT, UPDATE, DELETE) полностью запрещён</a:t>
            </a:r>
            <a:endParaRPr lang="en-US" sz="1000" dirty="0"/>
          </a:p>
          <a:p>
            <a:pPr marL="342900" indent="-342900" algn="l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Работа с БД — только через вызов разрешённых хранимых процедур (GRANT EXECUTE)</a:t>
            </a:r>
            <a:endParaRPr lang="en-US" sz="1000" dirty="0"/>
          </a:p>
          <a:p>
            <a:pPr marL="342900" indent="-342900" algn="l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Чтение данных — только через аналитические представления (GRANT SELECT)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37760" y="1325880"/>
            <a:ext cx="3657600" cy="5486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1732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371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бизнес-логики (Triggers)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937760" y="1874520"/>
            <a:ext cx="365760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Text 13"/>
          <p:cNvSpPr/>
          <p:nvPr/>
        </p:nvSpPr>
        <p:spPr>
          <a:xfrm>
            <a:off x="512064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trg_IncidentStatusGuard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120640" y="2377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UPDATE на таблице Incidents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120640" y="2743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Строго контролирует жизненный цикл аварии: блокирует транзакции и предотвращает случайный или намеренный откат уже решённого (или закрытого) инцидента обратно в статус «Новый».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120640" y="3931920"/>
            <a:ext cx="329184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5212080" y="3931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Решён / Закрыт</a:t>
            </a: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✕ →  «Новый»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Демонстрация: Наполнение справочных данных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3474720" cy="45720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68680" y="731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Инициализация базовых данных обеспечивает ссылочную целостность для всех транзакций.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47472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444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и Пользователи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роли (Администратор, Дежурный инженер, Аналитик) и 3 тестовые учётные записи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347472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868680" y="25603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496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аварий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834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статуса (от «Нового» до «Закрыт») и 4 уровня критичности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347472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868680" y="3611880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86868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547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Инвентаризация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886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Поддерживаемые типы ОС и типы собираемых метрик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0560" y="731520"/>
            <a:ext cx="1965960" cy="1325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4480560" y="731520"/>
            <a:ext cx="19659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4526280" y="731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Roles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480560" y="100584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Скриншот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56248" y="731520"/>
            <a:ext cx="1965960" cy="1325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6556248" y="731520"/>
            <a:ext cx="19659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601968" y="731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556248" y="100584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Скриншот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2167128"/>
            <a:ext cx="1965960" cy="1325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4480560" y="2167128"/>
            <a:ext cx="19659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4526280" y="21671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Statuses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480560" y="2441448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Скриншот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56248" y="2167128"/>
            <a:ext cx="1965960" cy="1325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6556248" y="2167128"/>
            <a:ext cx="19659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6601968" y="21671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Severities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556248" y="2441448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Скриншот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80560" y="3602736"/>
            <a:ext cx="1965960" cy="1325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Shape 36"/>
          <p:cNvSpPr/>
          <p:nvPr/>
        </p:nvSpPr>
        <p:spPr>
          <a:xfrm>
            <a:off x="4480560" y="3602736"/>
            <a:ext cx="19659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4526280" y="3602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MetricTypes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480560" y="3877056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Скриншот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56248" y="3602736"/>
            <a:ext cx="1965960" cy="1325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Shape 40"/>
          <p:cNvSpPr/>
          <p:nvPr/>
        </p:nvSpPr>
        <p:spPr>
          <a:xfrm>
            <a:off x="6556248" y="3602736"/>
            <a:ext cx="19659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6601968" y="3602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OperatingSystems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556248" y="3877056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Скриншот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BFC0C94D-F2F4-598D-7B0F-38373462D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973986"/>
            <a:ext cx="1965960" cy="1083413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052002A8-8488-2772-8502-1654EAE87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9" y="994410"/>
            <a:ext cx="1965960" cy="105156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B3DD08FF-4C85-7E22-2BDD-684B686014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2441448"/>
            <a:ext cx="1965960" cy="105156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C4820FB5-A990-CE13-8C67-017D16ABC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441448"/>
            <a:ext cx="1965960" cy="105156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F789BE98-97F6-8842-6DD5-8CED40F8F6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3877056"/>
            <a:ext cx="1965960" cy="105156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E289CD44-A862-4A51-B342-7174F0AAD8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3877056"/>
            <a:ext cx="19659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Демонстрация: Жизненный цикл инцидента (ITSM)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4069080" cy="2240280"/>
          </a:xfrm>
          <a:prstGeom prst="rect">
            <a:avLst/>
          </a:prstGeom>
          <a:solidFill>
            <a:srgbClr val="F8FA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4069080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1: Инициация аварии (Сбор метрик)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828800" cy="72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Хранимая процедура </a:t>
            </a: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sp_AddServerMetric</a:t>
            </a:r>
            <a:r>
              <a:rPr lang="en-US" sz="8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регистрирует критическую нагрузку (CPU = 99.8%) на сервере SRV-PROD-DB01.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79" y="1502736"/>
            <a:ext cx="1920240" cy="20116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2514600" y="932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r>
              <a:rPr lang="ru-RU" sz="6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650" dirty="0" err="1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ServerMetrics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617719" y="588645"/>
            <a:ext cx="4069080" cy="2240280"/>
          </a:xfrm>
          <a:prstGeom prst="rect">
            <a:avLst/>
          </a:prstGeom>
          <a:solidFill>
            <a:srgbClr val="F8FA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4617720" y="548640"/>
            <a:ext cx="406908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709160" y="5486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2: Регистрация инцидента в ITSM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9160" y="91440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Процедура </a:t>
            </a: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sp_CreateIncident</a:t>
            </a:r>
            <a:r>
              <a:rPr lang="en-US" sz="8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открывает карточку аварии с уровнем Критичный (SeverityID = 4) и присваивает статус «Новый».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583680" y="1363734"/>
            <a:ext cx="1920240" cy="20116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7" name="Text 15"/>
          <p:cNvSpPr/>
          <p:nvPr/>
        </p:nvSpPr>
        <p:spPr>
          <a:xfrm>
            <a:off x="6675120" y="932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r>
              <a:rPr lang="en-US" sz="650" dirty="0" err="1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Код</a:t>
            </a:r>
            <a:r>
              <a:rPr lang="en-US" sz="6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вызова sp_CreateIncident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57200" y="2862072"/>
            <a:ext cx="4069080" cy="2240280"/>
          </a:xfrm>
          <a:prstGeom prst="rect">
            <a:avLst/>
          </a:prstGeom>
          <a:solidFill>
            <a:srgbClr val="F8FA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57200" y="2862072"/>
            <a:ext cx="4069080" cy="3200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48640" y="28620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3: Мониторинг и расчёт Downtime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27832"/>
            <a:ext cx="1417320" cy="713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Представление </a:t>
            </a: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vw_ActiveIncidents</a:t>
            </a:r>
            <a:r>
              <a:rPr lang="en-US" sz="7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выводит инцидент на дашборд дежурных, рассчитывая время простоя через </a:t>
            </a: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fn_GetIncidentDuration.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029968" y="3814115"/>
            <a:ext cx="1234440" cy="20116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2048256" y="324612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r>
              <a:rPr lang="ru-RU" sz="6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600" dirty="0" err="1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vw_ActiveIncidents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319271" y="3809181"/>
            <a:ext cx="1188720" cy="20116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3355848" y="32461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0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r>
              <a:rPr lang="ru-RU" sz="6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600" dirty="0" err="1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vw_ServerHealth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617720" y="2862072"/>
            <a:ext cx="4069080" cy="2240280"/>
          </a:xfrm>
          <a:prstGeom prst="rect">
            <a:avLst/>
          </a:prstGeom>
          <a:solidFill>
            <a:srgbClr val="F8FA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4617720" y="2862072"/>
            <a:ext cx="4069080" cy="320040"/>
          </a:xfrm>
          <a:prstGeom prst="rect">
            <a:avLst/>
          </a:prstGeom>
          <a:solidFill>
            <a:srgbClr val="155E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709160" y="28620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4: Разрешение аварии (ACID Транзакция)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3227832"/>
            <a:ext cx="1828800" cy="67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Инженер устраняет сбой и вызывает </a:t>
            </a:r>
            <a:r>
              <a:rPr lang="en-US" sz="800" b="1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sp_UpdateIncidentStatus</a:t>
            </a:r>
            <a:r>
              <a:rPr lang="en-US" sz="8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 БД в единой транзакции закрывает инцидент и сохраняет технический комментарий.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0" y="3722886"/>
            <a:ext cx="1920240" cy="20116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6675120" y="3246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ru-RU" sz="650" dirty="0">
              <a:solidFill>
                <a:srgbClr val="E0F2F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r>
              <a:rPr lang="ru-RU" sz="6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6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 + IncidentComments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975C5FCD-6F9F-2BFB-EE43-DC72281A1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08784"/>
            <a:ext cx="4050791" cy="4476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D95DEF73-7452-5556-A6B7-81291CF8B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4014412"/>
            <a:ext cx="4041647" cy="553397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79349459-F99E-C28F-5898-4AB7667CD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3" y="4567809"/>
            <a:ext cx="4059937" cy="390525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28ADA2CC-A56C-036B-9F4C-6AB7A707E3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3942342"/>
            <a:ext cx="4087367" cy="102285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F9204023-A9D9-5D52-3467-EC984E5D86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18" y="1564902"/>
            <a:ext cx="4069079" cy="10594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и очистка (Секционирование)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Retention: </a:t>
            </a: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Старые потоковые метрики регулярно переносятся в архив и удаляются для поддержания высокой производительности OLTP-базы.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SWITCH PARTITION: </a:t>
            </a: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Вместо ресурсоёмкого DELETE очистка выполняется мгновенно на уровне метаданных — за миллисекунды.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тестирования (Февраль 2026):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«ДО»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После вставки тестовой метрики за февраль системный запрос фиксирует появление строки в февральской секции (раздел №2).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3017520"/>
            <a:ext cx="3749040" cy="1737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594360" y="3017520"/>
            <a:ext cx="3749040" cy="2286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sys.partitions — rows &gt; 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402336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4663440" y="1874520"/>
            <a:ext cx="402336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80060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«ПОСЛЕ»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331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Вызывается </a:t>
            </a:r>
            <a:r>
              <a:rPr lang="en-US" sz="7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sp_PurgeOldMetrics @TargetDate = '2026-02-15'</a:t>
            </a:r>
            <a:r>
              <a:rPr lang="en-US" sz="8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 Февральская секция мгновенно очищена. Запрос фиксирует rows = 0.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3749040" cy="1737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3749040" cy="2286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89204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sys.partitions — rows = 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4245ED9-0EA4-8763-1589-FB054EED9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39675"/>
            <a:ext cx="3749040" cy="151520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E9C0811-944B-49ED-24DB-C1CFB34E4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246120"/>
            <a:ext cx="374904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результаты проекта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7680960" cy="502920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Цели </a:t>
            </a:r>
            <a:r>
              <a:rPr lang="en-US" sz="1100" b="1" dirty="0" err="1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проекта</a:t>
            </a:r>
            <a:r>
              <a:rPr lang="en-US" sz="110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: </a:t>
            </a: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Учебный проект «База данных комплексного мониторинга серверов и жизненного цикла инцидентов» успешно завершён и протестирован.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70332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применение навыков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370332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Спроектирована реляционная структура (12 таблиц в 3НФ) с полной ссылочной целостностью</a:t>
            </a:r>
            <a:endParaRPr lang="en-US" sz="1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Секционирование (Partitioning) для потоковой записи и покрывающие индексы (INCLUDE) для быстрого чтения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374904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80060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Инкапсуляция логики и безопасность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965960"/>
            <a:ext cx="3749040" cy="1645920"/>
          </a:xfrm>
          <a:prstGeom prst="rect">
            <a:avLst/>
          </a:prstGeom>
          <a:solidFill>
            <a:srgbClr val="F0FDFA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800600" y="2103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Процессы обработки аварий и архивации полностью автоматизированы через транзакционные хранимые процедуры</a:t>
            </a:r>
            <a:endParaRPr lang="en-US" sz="1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Настроены базовые роли и ограничения для защиты системы от некорректных действий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7680960" cy="5029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9144000" cy="6172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F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Готов ответить на ваши вопросы.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1299</Words>
  <Application>Microsoft Office PowerPoint</Application>
  <PresentationFormat>Экран (16:9)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Roboto</vt:lpstr>
      <vt:lpstr>Roboto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Аскар Оморбеков</dc:creator>
  <cp:lastModifiedBy>Аскар Оморбеков</cp:lastModifiedBy>
  <cp:revision>9</cp:revision>
  <dcterms:created xsi:type="dcterms:W3CDTF">2026-05-19T10:21:24Z</dcterms:created>
  <dcterms:modified xsi:type="dcterms:W3CDTF">2026-05-20T11:28:53Z</dcterms:modified>
</cp:coreProperties>
</file>